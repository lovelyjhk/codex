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7E7F"/>
          </a:solidFill>
          <a:ln w="12700">
            <a:solidFill>
              <a:srgbClr val="147E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219456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147E7F"/>
                </a:solidFill>
                <a:latin typeface="Malgun Gothic"/>
              </a:rPr>
              <a:t>01  문제 제기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49808"/>
            <a:ext cx="530352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3100" b="1">
                <a:solidFill>
                  <a:srgbClr val="193653"/>
                </a:solidFill>
                <a:latin typeface="Malgun Gothic"/>
              </a:rPr>
              <a:t>문의 처리가 늦습니다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481328"/>
            <a:ext cx="114300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5C6773"/>
                </a:solidFill>
                <a:latin typeface="Malgun Gothic"/>
              </a:rPr>
              <a:t>핵심 메시지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55648" y="1389888"/>
            <a:ext cx="3429000" cy="4572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 w="12700">
            <a:solidFill>
              <a:srgbClr val="B8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47E7F"/>
                </a:solidFill>
                <a:latin typeface="Malgun Gothic"/>
              </a:rPr>
              <a:t>문의 처리가 늦습니다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240280"/>
            <a:ext cx="4526280" cy="3154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450592"/>
            <a:ext cx="3200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47E7F"/>
                </a:solidFill>
                <a:latin typeface="Malgun Gothic"/>
              </a:rPr>
              <a:t>본문 3개 bullet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916936"/>
            <a:ext cx="201168" cy="201168"/>
          </a:xfrm>
          <a:prstGeom prst="ellipse">
            <a:avLst/>
          </a:prstGeom>
          <a:solidFill>
            <a:srgbClr val="147E7F"/>
          </a:solidFill>
          <a:ln w="12700">
            <a:solidFill>
              <a:srgbClr val="147E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98448" y="2871216"/>
            <a:ext cx="347472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1F252D"/>
                </a:solidFill>
                <a:latin typeface="Malgun Gothic"/>
              </a:rPr>
              <a:t>고객 대기가 길어짐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575303"/>
            <a:ext cx="201168" cy="201168"/>
          </a:xfrm>
          <a:prstGeom prst="ellipse">
            <a:avLst/>
          </a:prstGeom>
          <a:solidFill>
            <a:srgbClr val="479B6B"/>
          </a:solidFill>
          <a:ln w="12700">
            <a:solidFill>
              <a:srgbClr val="479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3529584"/>
            <a:ext cx="347472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1F252D"/>
                </a:solidFill>
                <a:latin typeface="Malgun Gothic"/>
              </a:rPr>
              <a:t>담당자 업무가 많아짐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233671"/>
            <a:ext cx="201168" cy="20116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98448" y="4187951"/>
            <a:ext cx="347472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1F252D"/>
                </a:solidFill>
                <a:latin typeface="Malgun Gothic"/>
              </a:rPr>
              <a:t>누락 문의가 반복됨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6016752"/>
            <a:ext cx="4937760" cy="3108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C6773"/>
                </a:solidFill>
                <a:latin typeface="Malgun Gothic"/>
              </a:rPr>
              <a:t>시각화 아이디어: 문의가 쌓이는 깔때기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384048"/>
            <a:ext cx="265176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C6773"/>
                </a:solidFill>
                <a:latin typeface="Malgun Gothic"/>
              </a:rPr>
              <a:t>고객 문의 처리 자동화 도입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1078992"/>
            <a:ext cx="274320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193653"/>
                </a:solidFill>
                <a:latin typeface="Malgun Gothic"/>
              </a:rPr>
              <a:t>문의 적체 구조</a:t>
            </a:r>
          </a:p>
        </p:txBody>
      </p:sp>
      <p:sp>
        <p:nvSpPr>
          <p:cNvPr id="18" name="Trapezoid 17"/>
          <p:cNvSpPr/>
          <p:nvPr/>
        </p:nvSpPr>
        <p:spPr>
          <a:xfrm>
            <a:off x="6629400" y="1600200"/>
            <a:ext cx="4114800" cy="621792"/>
          </a:xfrm>
          <a:prstGeom prst="trapezoid">
            <a:avLst/>
          </a:prstGeom>
          <a:solidFill>
            <a:srgbClr val="147E7F"/>
          </a:solidFill>
          <a:ln w="12700">
            <a:solidFill>
              <a:srgbClr val="147E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여러 채널 접수</a:t>
            </a:r>
          </a:p>
        </p:txBody>
      </p:sp>
      <p:sp>
        <p:nvSpPr>
          <p:cNvPr id="19" name="Trapezoid 18"/>
          <p:cNvSpPr/>
          <p:nvPr/>
        </p:nvSpPr>
        <p:spPr>
          <a:xfrm>
            <a:off x="7063740" y="2350008"/>
            <a:ext cx="3246120" cy="621792"/>
          </a:xfrm>
          <a:prstGeom prst="trapezoid">
            <a:avLst/>
          </a:prstGeom>
          <a:solidFill>
            <a:srgbClr val="479B6B"/>
          </a:solidFill>
          <a:ln w="12700">
            <a:solidFill>
              <a:srgbClr val="479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직접 확인</a:t>
            </a:r>
          </a:p>
        </p:txBody>
      </p:sp>
      <p:sp>
        <p:nvSpPr>
          <p:cNvPr id="20" name="Trapezoid 19"/>
          <p:cNvSpPr/>
          <p:nvPr/>
        </p:nvSpPr>
        <p:spPr>
          <a:xfrm>
            <a:off x="7475220" y="3099815"/>
            <a:ext cx="2423160" cy="621792"/>
          </a:xfrm>
          <a:prstGeom prst="trapezoid">
            <a:avLst/>
          </a:prstGeom>
          <a:solidFill>
            <a:srgbClr val="E67E22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수동 배정</a:t>
            </a:r>
          </a:p>
        </p:txBody>
      </p:sp>
      <p:sp>
        <p:nvSpPr>
          <p:cNvPr id="21" name="Trapezoid 20"/>
          <p:cNvSpPr/>
          <p:nvPr/>
        </p:nvSpPr>
        <p:spPr>
          <a:xfrm>
            <a:off x="7886700" y="3849624"/>
            <a:ext cx="1600200" cy="621792"/>
          </a:xfrm>
          <a:prstGeom prst="trapezoid">
            <a:avLst/>
          </a:prstGeom>
          <a:solidFill>
            <a:srgbClr val="BE4444"/>
          </a:solidFill>
          <a:ln w="12700">
            <a:solidFill>
              <a:srgbClr val="BE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대기 증가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4864608"/>
            <a:ext cx="228600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500" b="1">
                <a:solidFill>
                  <a:srgbClr val="BE4444"/>
                </a:solidFill>
                <a:latin typeface="Malgun Gothic"/>
              </a:rPr>
              <a:t>문의가 아래로 갈수록
처리 대기가 커짐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7E7F"/>
          </a:solidFill>
          <a:ln w="12700">
            <a:solidFill>
              <a:srgbClr val="147E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219456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147E7F"/>
                </a:solidFill>
                <a:latin typeface="Malgun Gothic"/>
              </a:rPr>
              <a:t>02  현황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49808"/>
            <a:ext cx="530352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3100" b="1">
                <a:solidFill>
                  <a:srgbClr val="193653"/>
                </a:solidFill>
                <a:latin typeface="Malgun Gothic"/>
              </a:rPr>
              <a:t>반복 문의가 많습니다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481328"/>
            <a:ext cx="114300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5C6773"/>
                </a:solidFill>
                <a:latin typeface="Malgun Gothic"/>
              </a:rPr>
              <a:t>핵심 메시지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55648" y="1389888"/>
            <a:ext cx="3429000" cy="4572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 w="12700">
            <a:solidFill>
              <a:srgbClr val="B8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47E7F"/>
                </a:solidFill>
                <a:latin typeface="Malgun Gothic"/>
              </a:rPr>
              <a:t>반복 문의가 많습니다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240280"/>
            <a:ext cx="4526280" cy="3154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450592"/>
            <a:ext cx="3200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47E7F"/>
                </a:solidFill>
                <a:latin typeface="Malgun Gothic"/>
              </a:rPr>
              <a:t>본문 3개 bullet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916936"/>
            <a:ext cx="201168" cy="201168"/>
          </a:xfrm>
          <a:prstGeom prst="ellipse">
            <a:avLst/>
          </a:prstGeom>
          <a:solidFill>
            <a:srgbClr val="147E7F"/>
          </a:solidFill>
          <a:ln w="12700">
            <a:solidFill>
              <a:srgbClr val="147E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98448" y="2871216"/>
            <a:ext cx="347472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1F252D"/>
                </a:solidFill>
                <a:latin typeface="Malgun Gothic"/>
              </a:rPr>
              <a:t>월 문의 3,000건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575303"/>
            <a:ext cx="201168" cy="201168"/>
          </a:xfrm>
          <a:prstGeom prst="ellipse">
            <a:avLst/>
          </a:prstGeom>
          <a:solidFill>
            <a:srgbClr val="479B6B"/>
          </a:solidFill>
          <a:ln w="12700">
            <a:solidFill>
              <a:srgbClr val="479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3529584"/>
            <a:ext cx="347472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1F252D"/>
                </a:solidFill>
                <a:latin typeface="Malgun Gothic"/>
              </a:rPr>
              <a:t>반복 문의 45%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233671"/>
            <a:ext cx="201168" cy="20116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98448" y="4187951"/>
            <a:ext cx="347472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1F252D"/>
                </a:solidFill>
                <a:latin typeface="Malgun Gothic"/>
              </a:rPr>
              <a:t>접수 창구가 많음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6016752"/>
            <a:ext cx="4937760" cy="3108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C6773"/>
                </a:solidFill>
                <a:latin typeface="Malgun Gothic"/>
              </a:rPr>
              <a:t>시각화 아이디어: 문의 유형 막대그래프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384048"/>
            <a:ext cx="265176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C6773"/>
                </a:solidFill>
                <a:latin typeface="Malgun Gothic"/>
              </a:rPr>
              <a:t>고객 문의 처리 자동화 도입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1078992"/>
            <a:ext cx="274320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193653"/>
                </a:solidFill>
                <a:latin typeface="Malgun Gothic"/>
              </a:rPr>
              <a:t>문의 현황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1865376"/>
            <a:ext cx="749808" cy="3017520"/>
          </a:xfrm>
          <a:prstGeom prst="rect">
            <a:avLst/>
          </a:prstGeom>
          <a:solidFill>
            <a:srgbClr val="147E7F"/>
          </a:solidFill>
          <a:ln w="12700">
            <a:solidFill>
              <a:srgbClr val="147E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0" y="1481328"/>
            <a:ext cx="1207008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147E7F"/>
                </a:solidFill>
                <a:latin typeface="Malgun Gothic"/>
              </a:rPr>
              <a:t>3,000건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07608" y="5020056"/>
            <a:ext cx="109728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5C6773"/>
                </a:solidFill>
                <a:latin typeface="Malgun Gothic"/>
              </a:rPr>
              <a:t>전체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0" y="3465576"/>
            <a:ext cx="749808" cy="14173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0920" y="3081528"/>
            <a:ext cx="1207008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E67E22"/>
                </a:solidFill>
                <a:latin typeface="Malgun Gothic"/>
              </a:rPr>
              <a:t>45%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5020056"/>
            <a:ext cx="109728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5C6773"/>
                </a:solidFill>
                <a:latin typeface="Malgun Gothic"/>
              </a:rPr>
              <a:t>반복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06840" y="3145536"/>
            <a:ext cx="749808" cy="1737360"/>
          </a:xfrm>
          <a:prstGeom prst="rect">
            <a:avLst/>
          </a:prstGeom>
          <a:solidFill>
            <a:srgbClr val="479B6B"/>
          </a:solidFill>
          <a:ln w="12700">
            <a:solidFill>
              <a:srgbClr val="479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0" y="2761488"/>
            <a:ext cx="1207008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479B6B"/>
                </a:solidFill>
                <a:latin typeface="Malgun Gothic"/>
              </a:rPr>
              <a:t>확인 필요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2248" y="5020056"/>
            <a:ext cx="109728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5C6773"/>
                </a:solidFill>
                <a:latin typeface="Malgun Gothic"/>
              </a:rPr>
              <a:t>복잡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4882896"/>
            <a:ext cx="4572000" cy="18288"/>
          </a:xfrm>
          <a:prstGeom prst="rect">
            <a:avLst/>
          </a:prstGeom>
          <a:solidFill>
            <a:srgbClr val="D2DAE1"/>
          </a:solidFill>
          <a:ln w="12700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235440" y="1828800"/>
            <a:ext cx="1463040" cy="713232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2700">
            <a:solidFill>
              <a:srgbClr val="F6C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E67E22"/>
                </a:solidFill>
                <a:latin typeface="Malgun Gothic"/>
              </a:rPr>
              <a:t>반복 문의
우선 처리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7E7F"/>
          </a:solidFill>
          <a:ln w="12700">
            <a:solidFill>
              <a:srgbClr val="147E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219456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147E7F"/>
                </a:solidFill>
                <a:latin typeface="Malgun Gothic"/>
              </a:rPr>
              <a:t>03  원인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49808"/>
            <a:ext cx="530352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3100" b="1">
                <a:solidFill>
                  <a:srgbClr val="193653"/>
                </a:solidFill>
                <a:latin typeface="Malgun Gothic"/>
              </a:rPr>
              <a:t>수작업이 많습니다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481328"/>
            <a:ext cx="114300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5C6773"/>
                </a:solidFill>
                <a:latin typeface="Malgun Gothic"/>
              </a:rPr>
              <a:t>핵심 메시지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55648" y="1389888"/>
            <a:ext cx="3429000" cy="4572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 w="12700">
            <a:solidFill>
              <a:srgbClr val="B8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47E7F"/>
                </a:solidFill>
                <a:latin typeface="Malgun Gothic"/>
              </a:rPr>
              <a:t>수작업이 많습니다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240280"/>
            <a:ext cx="4526280" cy="3154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450592"/>
            <a:ext cx="3200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47E7F"/>
                </a:solidFill>
                <a:latin typeface="Malgun Gothic"/>
              </a:rPr>
              <a:t>본문 3개 bullet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916936"/>
            <a:ext cx="201168" cy="201168"/>
          </a:xfrm>
          <a:prstGeom prst="ellipse">
            <a:avLst/>
          </a:prstGeom>
          <a:solidFill>
            <a:srgbClr val="147E7F"/>
          </a:solidFill>
          <a:ln w="12700">
            <a:solidFill>
              <a:srgbClr val="147E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98448" y="2871216"/>
            <a:ext cx="347472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1F252D"/>
                </a:solidFill>
                <a:latin typeface="Malgun Gothic"/>
              </a:rPr>
              <a:t>문의를 직접 확인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575303"/>
            <a:ext cx="201168" cy="201168"/>
          </a:xfrm>
          <a:prstGeom prst="ellipse">
            <a:avLst/>
          </a:prstGeom>
          <a:solidFill>
            <a:srgbClr val="479B6B"/>
          </a:solidFill>
          <a:ln w="12700">
            <a:solidFill>
              <a:srgbClr val="479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3529584"/>
            <a:ext cx="347472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1F252D"/>
                </a:solidFill>
                <a:latin typeface="Malgun Gothic"/>
              </a:rPr>
              <a:t>부서를 직접 배정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233671"/>
            <a:ext cx="201168" cy="20116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98448" y="4187951"/>
            <a:ext cx="347472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1F252D"/>
                </a:solidFill>
                <a:latin typeface="Malgun Gothic"/>
              </a:rPr>
              <a:t>정보 확인이 오래 걸림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6016752"/>
            <a:ext cx="4937760" cy="3108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C6773"/>
                </a:solidFill>
                <a:latin typeface="Malgun Gothic"/>
              </a:rPr>
              <a:t>시각화 아이디어: 현재 업무 흐름도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384048"/>
            <a:ext cx="265176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C6773"/>
                </a:solidFill>
                <a:latin typeface="Malgun Gothic"/>
              </a:rPr>
              <a:t>고객 문의 처리 자동화 도입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1078992"/>
            <a:ext cx="274320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193653"/>
                </a:solidFill>
                <a:latin typeface="Malgun Gothic"/>
              </a:rPr>
              <a:t>현재 흐름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0" y="2240280"/>
            <a:ext cx="105156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7E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47E7F"/>
                </a:solidFill>
                <a:latin typeface="Malgun Gothic"/>
              </a:rPr>
              <a:t>접수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986016" y="2423160"/>
            <a:ext cx="566928" cy="256032"/>
          </a:xfrm>
          <a:prstGeom prst="rightArrow">
            <a:avLst/>
          </a:prstGeom>
          <a:solidFill>
            <a:srgbClr val="D2DAE1"/>
          </a:solidFill>
          <a:ln w="12700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635240" y="2240280"/>
            <a:ext cx="105156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479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479B6B"/>
                </a:solidFill>
                <a:latin typeface="Malgun Gothic"/>
              </a:rPr>
              <a:t>확인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769096" y="2423160"/>
            <a:ext cx="566928" cy="256032"/>
          </a:xfrm>
          <a:prstGeom prst="rightArrow">
            <a:avLst/>
          </a:prstGeom>
          <a:solidFill>
            <a:srgbClr val="D2DAE1"/>
          </a:solidFill>
          <a:ln w="12700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418319" y="2240280"/>
            <a:ext cx="105156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E67E22"/>
                </a:solidFill>
                <a:latin typeface="Malgun Gothic"/>
              </a:rPr>
              <a:t>배정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10552176" y="2423160"/>
            <a:ext cx="566928" cy="256032"/>
          </a:xfrm>
          <a:prstGeom prst="rightArrow">
            <a:avLst/>
          </a:prstGeom>
          <a:solidFill>
            <a:srgbClr val="D2DAE1"/>
          </a:solidFill>
          <a:ln w="12700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201399" y="2240280"/>
            <a:ext cx="105156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5C6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5C6773"/>
                </a:solidFill>
                <a:latin typeface="Malgun Gothic"/>
              </a:rPr>
              <a:t>처리</a:t>
            </a:r>
          </a:p>
        </p:txBody>
      </p:sp>
      <p:sp>
        <p:nvSpPr>
          <p:cNvPr id="25" name="Oval 24"/>
          <p:cNvSpPr/>
          <p:nvPr/>
        </p:nvSpPr>
        <p:spPr>
          <a:xfrm>
            <a:off x="6931152" y="3218688"/>
            <a:ext cx="914400" cy="914400"/>
          </a:xfrm>
          <a:prstGeom prst="ellipse">
            <a:avLst/>
          </a:prstGeom>
          <a:solidFill>
            <a:srgbClr val="FCEBEB"/>
          </a:solidFill>
          <a:ln w="12700">
            <a:solidFill>
              <a:srgbClr val="BE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BE4444"/>
                </a:solidFill>
                <a:latin typeface="Malgun Gothic"/>
              </a:rPr>
              <a:t>분산</a:t>
            </a:r>
          </a:p>
        </p:txBody>
      </p:sp>
      <p:sp>
        <p:nvSpPr>
          <p:cNvPr id="26" name="Oval 25"/>
          <p:cNvSpPr/>
          <p:nvPr/>
        </p:nvSpPr>
        <p:spPr>
          <a:xfrm>
            <a:off x="8705088" y="3218688"/>
            <a:ext cx="914400" cy="914400"/>
          </a:xfrm>
          <a:prstGeom prst="ellipse">
            <a:avLst/>
          </a:prstGeom>
          <a:solidFill>
            <a:srgbClr val="FCEBEB"/>
          </a:solidFill>
          <a:ln w="12700">
            <a:solidFill>
              <a:srgbClr val="BE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BE4444"/>
                </a:solidFill>
                <a:latin typeface="Malgun Gothic"/>
              </a:rPr>
              <a:t>수작업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663440"/>
            <a:ext cx="320040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BE4444"/>
                </a:solidFill>
                <a:latin typeface="Malgun Gothic"/>
              </a:rPr>
              <a:t>흐름 사이마다
확인이 필요함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7E7F"/>
          </a:solidFill>
          <a:ln w="12700">
            <a:solidFill>
              <a:srgbClr val="147E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219456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147E7F"/>
                </a:solidFill>
                <a:latin typeface="Malgun Gothic"/>
              </a:rPr>
              <a:t>04  해결 전략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49808"/>
            <a:ext cx="530352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3100" b="1">
                <a:solidFill>
                  <a:srgbClr val="193653"/>
                </a:solidFill>
                <a:latin typeface="Malgun Gothic"/>
              </a:rPr>
              <a:t>단순 업무를 줄입니다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481328"/>
            <a:ext cx="114300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5C6773"/>
                </a:solidFill>
                <a:latin typeface="Malgun Gothic"/>
              </a:rPr>
              <a:t>핵심 메시지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55648" y="1389888"/>
            <a:ext cx="3429000" cy="4572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 w="12700">
            <a:solidFill>
              <a:srgbClr val="B8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47E7F"/>
                </a:solidFill>
                <a:latin typeface="Malgun Gothic"/>
              </a:rPr>
              <a:t>단순 업무를 줄입니다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240280"/>
            <a:ext cx="4526280" cy="3154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450592"/>
            <a:ext cx="3200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47E7F"/>
                </a:solidFill>
                <a:latin typeface="Malgun Gothic"/>
              </a:rPr>
              <a:t>본문 3개 bullet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916936"/>
            <a:ext cx="201168" cy="201168"/>
          </a:xfrm>
          <a:prstGeom prst="ellipse">
            <a:avLst/>
          </a:prstGeom>
          <a:solidFill>
            <a:srgbClr val="147E7F"/>
          </a:solidFill>
          <a:ln w="12700">
            <a:solidFill>
              <a:srgbClr val="147E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98448" y="2871216"/>
            <a:ext cx="347472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1F252D"/>
                </a:solidFill>
                <a:latin typeface="Malgun Gothic"/>
              </a:rPr>
              <a:t>문의를 한곳에 모음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575303"/>
            <a:ext cx="201168" cy="201168"/>
          </a:xfrm>
          <a:prstGeom prst="ellipse">
            <a:avLst/>
          </a:prstGeom>
          <a:solidFill>
            <a:srgbClr val="479B6B"/>
          </a:solidFill>
          <a:ln w="12700">
            <a:solidFill>
              <a:srgbClr val="479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3529584"/>
            <a:ext cx="347472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1F252D"/>
                </a:solidFill>
                <a:latin typeface="Malgun Gothic"/>
              </a:rPr>
              <a:t>유형을 자동 구분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233671"/>
            <a:ext cx="201168" cy="20116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98448" y="4187951"/>
            <a:ext cx="347472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1F252D"/>
                </a:solidFill>
                <a:latin typeface="Malgun Gothic"/>
              </a:rPr>
              <a:t>담당 부서로 연결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6016752"/>
            <a:ext cx="4937760" cy="3108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C6773"/>
                </a:solidFill>
                <a:latin typeface="Malgun Gothic"/>
              </a:rPr>
              <a:t>시각화 아이디어: 개선 전후 비교도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384048"/>
            <a:ext cx="265176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C6773"/>
                </a:solidFill>
                <a:latin typeface="Malgun Gothic"/>
              </a:rPr>
              <a:t>고객 문의 처리 자동화 도입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1078992"/>
            <a:ext cx="274320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193653"/>
                </a:solidFill>
                <a:latin typeface="Malgun Gothic"/>
              </a:rPr>
              <a:t>개선 전후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1645920"/>
            <a:ext cx="2057400" cy="3246120"/>
          </a:xfrm>
          <a:prstGeom prst="roundRect">
            <a:avLst>
              <a:gd name="adj" fmla="val 6000"/>
            </a:avLst>
          </a:prstGeom>
          <a:solidFill>
            <a:srgbClr val="FFF7F7"/>
          </a:solidFill>
          <a:ln w="12700">
            <a:solidFill>
              <a:srgbClr val="E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49640" y="1645920"/>
            <a:ext cx="2057400" cy="3246120"/>
          </a:xfrm>
          <a:prstGeom prst="roundRect">
            <a:avLst>
              <a:gd name="adj" fmla="val 6000"/>
            </a:avLst>
          </a:prstGeom>
          <a:solidFill>
            <a:srgbClr val="EFFAF6"/>
          </a:solidFill>
          <a:ln w="12700">
            <a:solidFill>
              <a:srgbClr val="B5E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1968" y="1938528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BE4444"/>
                </a:solidFill>
                <a:latin typeface="Malgun Gothic"/>
              </a:rPr>
              <a:t>현재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2288" y="1938528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479B6B"/>
                </a:solidFill>
                <a:latin typeface="Malgun Gothic"/>
              </a:rPr>
              <a:t>개선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2606040"/>
            <a:ext cx="1234440" cy="10058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600" b="0">
                <a:solidFill>
                  <a:srgbClr val="1F252D"/>
                </a:solidFill>
                <a:latin typeface="Malgun Gothic"/>
              </a:rPr>
              <a:t>직접 확인
직접 배정
대기 증가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42832" y="2606040"/>
            <a:ext cx="1234440" cy="10058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600" b="0">
                <a:solidFill>
                  <a:srgbClr val="1F252D"/>
                </a:solidFill>
                <a:latin typeface="Malgun Gothic"/>
              </a:rPr>
              <a:t>자동 분류
자동 배정
빠른 응답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183879" y="2962656"/>
            <a:ext cx="292608" cy="320040"/>
          </a:xfrm>
          <a:prstGeom prst="rightArrow">
            <a:avLst/>
          </a:prstGeom>
          <a:solidFill>
            <a:srgbClr val="147E7F"/>
          </a:solidFill>
          <a:ln w="12700">
            <a:solidFill>
              <a:srgbClr val="147E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7E7F"/>
          </a:solidFill>
          <a:ln w="12700">
            <a:solidFill>
              <a:srgbClr val="147E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219456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147E7F"/>
                </a:solidFill>
                <a:latin typeface="Malgun Gothic"/>
              </a:rPr>
              <a:t>05  자동화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49808"/>
            <a:ext cx="530352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3100" b="1">
                <a:solidFill>
                  <a:srgbClr val="193653"/>
                </a:solidFill>
                <a:latin typeface="Malgun Gothic"/>
              </a:rPr>
              <a:t>접수부터 연결합니다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481328"/>
            <a:ext cx="114300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5C6773"/>
                </a:solidFill>
                <a:latin typeface="Malgun Gothic"/>
              </a:rPr>
              <a:t>핵심 메시지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55648" y="1389888"/>
            <a:ext cx="3429000" cy="4572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 w="12700">
            <a:solidFill>
              <a:srgbClr val="B8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47E7F"/>
                </a:solidFill>
                <a:latin typeface="Malgun Gothic"/>
              </a:rPr>
              <a:t>접수부터 연결합니다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240280"/>
            <a:ext cx="4526280" cy="3154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450592"/>
            <a:ext cx="3200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47E7F"/>
                </a:solidFill>
                <a:latin typeface="Malgun Gothic"/>
              </a:rPr>
              <a:t>본문 3개 bullet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916936"/>
            <a:ext cx="201168" cy="201168"/>
          </a:xfrm>
          <a:prstGeom prst="ellipse">
            <a:avLst/>
          </a:prstGeom>
          <a:solidFill>
            <a:srgbClr val="147E7F"/>
          </a:solidFill>
          <a:ln w="12700">
            <a:solidFill>
              <a:srgbClr val="147E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98448" y="2871216"/>
            <a:ext cx="347472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1F252D"/>
                </a:solidFill>
                <a:latin typeface="Malgun Gothic"/>
              </a:rPr>
              <a:t>문의를 자동 수집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575303"/>
            <a:ext cx="201168" cy="201168"/>
          </a:xfrm>
          <a:prstGeom prst="ellipse">
            <a:avLst/>
          </a:prstGeom>
          <a:solidFill>
            <a:srgbClr val="479B6B"/>
          </a:solidFill>
          <a:ln w="12700">
            <a:solidFill>
              <a:srgbClr val="479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3529584"/>
            <a:ext cx="347472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1F252D"/>
                </a:solidFill>
                <a:latin typeface="Malgun Gothic"/>
              </a:rPr>
              <a:t>답변 초안을 작성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233671"/>
            <a:ext cx="201168" cy="20116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98448" y="4187951"/>
            <a:ext cx="347472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1F252D"/>
                </a:solidFill>
                <a:latin typeface="Malgun Gothic"/>
              </a:rPr>
              <a:t>어려운 건만 전달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6016752"/>
            <a:ext cx="4937760" cy="3108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C6773"/>
                </a:solidFill>
                <a:latin typeface="Malgun Gothic"/>
              </a:rPr>
              <a:t>시각화 아이디어: 5단계 화살표 흐름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384048"/>
            <a:ext cx="265176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C6773"/>
                </a:solidFill>
                <a:latin typeface="Malgun Gothic"/>
              </a:rPr>
              <a:t>고객 문의 처리 자동화 도입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1078992"/>
            <a:ext cx="274320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193653"/>
                </a:solidFill>
                <a:latin typeface="Malgun Gothic"/>
              </a:rPr>
              <a:t>자동화 5단계</a:t>
            </a:r>
          </a:p>
        </p:txBody>
      </p:sp>
      <p:sp>
        <p:nvSpPr>
          <p:cNvPr id="18" name="Chevron 17"/>
          <p:cNvSpPr/>
          <p:nvPr/>
        </p:nvSpPr>
        <p:spPr>
          <a:xfrm>
            <a:off x="5742432" y="2514600"/>
            <a:ext cx="987552" cy="804672"/>
          </a:xfrm>
          <a:prstGeom prst="chevron">
            <a:avLst/>
          </a:prstGeom>
          <a:solidFill>
            <a:srgbClr val="147E7F"/>
          </a:solidFill>
          <a:ln w="12700">
            <a:solidFill>
              <a:srgbClr val="147E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수집</a:t>
            </a:r>
          </a:p>
        </p:txBody>
      </p:sp>
      <p:sp>
        <p:nvSpPr>
          <p:cNvPr id="19" name="Chevron 18"/>
          <p:cNvSpPr/>
          <p:nvPr/>
        </p:nvSpPr>
        <p:spPr>
          <a:xfrm>
            <a:off x="6675120" y="2514600"/>
            <a:ext cx="987552" cy="804672"/>
          </a:xfrm>
          <a:prstGeom prst="chevron">
            <a:avLst/>
          </a:prstGeom>
          <a:solidFill>
            <a:srgbClr val="479B6B"/>
          </a:solidFill>
          <a:ln w="12700">
            <a:solidFill>
              <a:srgbClr val="479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분류</a:t>
            </a:r>
          </a:p>
        </p:txBody>
      </p:sp>
      <p:sp>
        <p:nvSpPr>
          <p:cNvPr id="20" name="Chevron 19"/>
          <p:cNvSpPr/>
          <p:nvPr/>
        </p:nvSpPr>
        <p:spPr>
          <a:xfrm>
            <a:off x="7607808" y="2514600"/>
            <a:ext cx="987552" cy="804672"/>
          </a:xfrm>
          <a:prstGeom prst="chevron">
            <a:avLst/>
          </a:prstGeom>
          <a:solidFill>
            <a:srgbClr val="E67E22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초안</a:t>
            </a:r>
          </a:p>
        </p:txBody>
      </p:sp>
      <p:sp>
        <p:nvSpPr>
          <p:cNvPr id="21" name="Chevron 20"/>
          <p:cNvSpPr/>
          <p:nvPr/>
        </p:nvSpPr>
        <p:spPr>
          <a:xfrm>
            <a:off x="8540496" y="2514600"/>
            <a:ext cx="987552" cy="804672"/>
          </a:xfrm>
          <a:prstGeom prst="chevron">
            <a:avLst/>
          </a:prstGeom>
          <a:solidFill>
            <a:srgbClr val="193653"/>
          </a:solidFill>
          <a:ln w="12700">
            <a:solidFill>
              <a:srgbClr val="193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배정</a:t>
            </a:r>
          </a:p>
        </p:txBody>
      </p:sp>
      <p:sp>
        <p:nvSpPr>
          <p:cNvPr id="22" name="Chevron 21"/>
          <p:cNvSpPr/>
          <p:nvPr/>
        </p:nvSpPr>
        <p:spPr>
          <a:xfrm>
            <a:off x="9473184" y="2514600"/>
            <a:ext cx="987552" cy="804672"/>
          </a:xfrm>
          <a:prstGeom prst="chevron">
            <a:avLst/>
          </a:prstGeom>
          <a:solidFill>
            <a:srgbClr val="5C6773"/>
          </a:solidFill>
          <a:ln w="12700">
            <a:solidFill>
              <a:srgbClr val="5C6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977639"/>
            <a:ext cx="393192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193653"/>
                </a:solidFill>
                <a:latin typeface="Malgun Gothic"/>
              </a:rPr>
              <a:t>단순 문의는 자동 처리
복잡한 건은 담당자 전달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7E7F"/>
          </a:solidFill>
          <a:ln w="12700">
            <a:solidFill>
              <a:srgbClr val="147E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219456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147E7F"/>
                </a:solidFill>
                <a:latin typeface="Malgun Gothic"/>
              </a:rPr>
              <a:t>06  기대 효과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49808"/>
            <a:ext cx="530352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3100" b="1">
                <a:solidFill>
                  <a:srgbClr val="193653"/>
                </a:solidFill>
                <a:latin typeface="Malgun Gothic"/>
              </a:rPr>
              <a:t>응답 속도가 빨라집니다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481328"/>
            <a:ext cx="114300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5C6773"/>
                </a:solidFill>
                <a:latin typeface="Malgun Gothic"/>
              </a:rPr>
              <a:t>핵심 메시지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55648" y="1389888"/>
            <a:ext cx="3429000" cy="4572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 w="12700">
            <a:solidFill>
              <a:srgbClr val="B8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47E7F"/>
                </a:solidFill>
                <a:latin typeface="Malgun Gothic"/>
              </a:rPr>
              <a:t>응답 속도가 빨라집니다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240280"/>
            <a:ext cx="4526280" cy="3154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450592"/>
            <a:ext cx="3200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47E7F"/>
                </a:solidFill>
                <a:latin typeface="Malgun Gothic"/>
              </a:rPr>
              <a:t>본문 3개 bullet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916936"/>
            <a:ext cx="201168" cy="201168"/>
          </a:xfrm>
          <a:prstGeom prst="ellipse">
            <a:avLst/>
          </a:prstGeom>
          <a:solidFill>
            <a:srgbClr val="147E7F"/>
          </a:solidFill>
          <a:ln w="12700">
            <a:solidFill>
              <a:srgbClr val="147E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98448" y="2871216"/>
            <a:ext cx="347472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1F252D"/>
                </a:solidFill>
                <a:latin typeface="Malgun Gothic"/>
              </a:rPr>
              <a:t>처리 시간이 줄어듦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575303"/>
            <a:ext cx="201168" cy="201168"/>
          </a:xfrm>
          <a:prstGeom prst="ellipse">
            <a:avLst/>
          </a:prstGeom>
          <a:solidFill>
            <a:srgbClr val="479B6B"/>
          </a:solidFill>
          <a:ln w="12700">
            <a:solidFill>
              <a:srgbClr val="479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3529584"/>
            <a:ext cx="347472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1F252D"/>
                </a:solidFill>
                <a:latin typeface="Malgun Gothic"/>
              </a:rPr>
              <a:t>담당자 부담 완화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233671"/>
            <a:ext cx="201168" cy="20116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98448" y="4187951"/>
            <a:ext cx="347472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1F252D"/>
                </a:solidFill>
                <a:latin typeface="Malgun Gothic"/>
              </a:rPr>
              <a:t>고객 만족도 개선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6016752"/>
            <a:ext cx="4937760" cy="3108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C6773"/>
                </a:solidFill>
                <a:latin typeface="Malgun Gothic"/>
              </a:rPr>
              <a:t>시각화 아이디어: 효과 지표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384048"/>
            <a:ext cx="265176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C6773"/>
                </a:solidFill>
                <a:latin typeface="Malgun Gothic"/>
              </a:rPr>
              <a:t>고객 문의 처리 자동화 도입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1078992"/>
            <a:ext cx="274320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193653"/>
                </a:solidFill>
                <a:latin typeface="Malgun Gothic"/>
              </a:rPr>
              <a:t>효과 지표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97880" y="1828800"/>
            <a:ext cx="15087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36792" y="2084831"/>
            <a:ext cx="621792" cy="621792"/>
          </a:xfrm>
          <a:prstGeom prst="ellipse">
            <a:avLst/>
          </a:prstGeom>
          <a:solidFill>
            <a:srgbClr val="147E7F"/>
          </a:solidFill>
          <a:ln w="12700">
            <a:solidFill>
              <a:srgbClr val="147E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834640"/>
            <a:ext cx="123444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5C6773"/>
                </a:solidFill>
                <a:latin typeface="Malgun Gothic"/>
              </a:rPr>
              <a:t>처리 시간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3154680"/>
            <a:ext cx="1234440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800" b="1">
                <a:solidFill>
                  <a:srgbClr val="147E7F"/>
                </a:solidFill>
                <a:latin typeface="Malgun Gothic"/>
              </a:rPr>
              <a:t>감소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1828800"/>
            <a:ext cx="15087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74152" y="2084831"/>
            <a:ext cx="621792" cy="621792"/>
          </a:xfrm>
          <a:prstGeom prst="ellipse">
            <a:avLst/>
          </a:prstGeom>
          <a:solidFill>
            <a:srgbClr val="479B6B"/>
          </a:solidFill>
          <a:ln w="12700">
            <a:solidFill>
              <a:srgbClr val="479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2834640"/>
            <a:ext cx="123444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5C6773"/>
                </a:solidFill>
                <a:latin typeface="Malgun Gothic"/>
              </a:rPr>
              <a:t>업무 부담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3154680"/>
            <a:ext cx="1234440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800" b="1">
                <a:solidFill>
                  <a:srgbClr val="479B6B"/>
                </a:solidFill>
                <a:latin typeface="Malgun Gothic"/>
              </a:rPr>
              <a:t>완화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72600" y="1828800"/>
            <a:ext cx="15087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11512" y="2084831"/>
            <a:ext cx="621792" cy="62179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2834640"/>
            <a:ext cx="123444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5C6773"/>
                </a:solidFill>
                <a:latin typeface="Malgun Gothic"/>
              </a:rPr>
              <a:t>고객 만족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3154680"/>
            <a:ext cx="1234440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800" b="1">
                <a:solidFill>
                  <a:srgbClr val="E67E22"/>
                </a:solidFill>
                <a:latin typeface="Malgun Gothic"/>
              </a:rPr>
              <a:t>개선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4434840"/>
            <a:ext cx="4389120" cy="128016"/>
          </a:xfrm>
          <a:prstGeom prst="rect">
            <a:avLst/>
          </a:prstGeom>
          <a:solidFill>
            <a:srgbClr val="E1E7EC"/>
          </a:solidFill>
          <a:ln w="12700">
            <a:solidFill>
              <a:srgbClr val="E1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26480" y="4434840"/>
            <a:ext cx="3154680" cy="128016"/>
          </a:xfrm>
          <a:prstGeom prst="rect">
            <a:avLst/>
          </a:prstGeom>
          <a:solidFill>
            <a:srgbClr val="147E7F"/>
          </a:solidFill>
          <a:ln w="12700">
            <a:solidFill>
              <a:srgbClr val="147E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95160" y="4709160"/>
            <a:ext cx="246888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500" b="1">
                <a:solidFill>
                  <a:srgbClr val="193653"/>
                </a:solidFill>
                <a:latin typeface="Malgun Gothic"/>
              </a:rPr>
              <a:t>성과는 지표로 확인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7E7F"/>
          </a:solidFill>
          <a:ln w="12700">
            <a:solidFill>
              <a:srgbClr val="147E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219456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147E7F"/>
                </a:solidFill>
                <a:latin typeface="Malgun Gothic"/>
              </a:rPr>
              <a:t>07  실행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49808"/>
            <a:ext cx="530352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3100" b="1">
                <a:solidFill>
                  <a:srgbClr val="193653"/>
                </a:solidFill>
                <a:latin typeface="Malgun Gothic"/>
              </a:rPr>
              <a:t>작게 시작해 넓힙니다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481328"/>
            <a:ext cx="114300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5C6773"/>
                </a:solidFill>
                <a:latin typeface="Malgun Gothic"/>
              </a:rPr>
              <a:t>핵심 메시지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55648" y="1389888"/>
            <a:ext cx="3429000" cy="4572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 w="12700">
            <a:solidFill>
              <a:srgbClr val="B8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47E7F"/>
                </a:solidFill>
                <a:latin typeface="Malgun Gothic"/>
              </a:rPr>
              <a:t>작게 시작해 넓힙니다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240280"/>
            <a:ext cx="4526280" cy="3154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450592"/>
            <a:ext cx="3200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47E7F"/>
                </a:solidFill>
                <a:latin typeface="Malgun Gothic"/>
              </a:rPr>
              <a:t>본문 3개 bullet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916936"/>
            <a:ext cx="201168" cy="201168"/>
          </a:xfrm>
          <a:prstGeom prst="ellipse">
            <a:avLst/>
          </a:prstGeom>
          <a:solidFill>
            <a:srgbClr val="147E7F"/>
          </a:solidFill>
          <a:ln w="12700">
            <a:solidFill>
              <a:srgbClr val="147E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98448" y="2871216"/>
            <a:ext cx="347472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1F252D"/>
                </a:solidFill>
                <a:latin typeface="Malgun Gothic"/>
              </a:rPr>
              <a:t>반복 문의부터 적용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575303"/>
            <a:ext cx="201168" cy="201168"/>
          </a:xfrm>
          <a:prstGeom prst="ellipse">
            <a:avLst/>
          </a:prstGeom>
          <a:solidFill>
            <a:srgbClr val="479B6B"/>
          </a:solidFill>
          <a:ln w="12700">
            <a:solidFill>
              <a:srgbClr val="479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3529584"/>
            <a:ext cx="347472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1F252D"/>
                </a:solidFill>
                <a:latin typeface="Malgun Gothic"/>
              </a:rPr>
              <a:t>부서 연결을 확대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233671"/>
            <a:ext cx="201168" cy="20116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98448" y="4187951"/>
            <a:ext cx="347472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1F252D"/>
                </a:solidFill>
                <a:latin typeface="Malgun Gothic"/>
              </a:rPr>
              <a:t>성과를 매월 점검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6016752"/>
            <a:ext cx="4937760" cy="3108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C6773"/>
                </a:solidFill>
                <a:latin typeface="Malgun Gothic"/>
              </a:rPr>
              <a:t>시각화 아이디어: 3단계 실행 로드맵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384048"/>
            <a:ext cx="265176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C6773"/>
                </a:solidFill>
                <a:latin typeface="Malgun Gothic"/>
              </a:rPr>
              <a:t>고객 문의 처리 자동화 도입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1078992"/>
            <a:ext cx="274320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193653"/>
                </a:solidFill>
                <a:latin typeface="Malgun Gothic"/>
              </a:rPr>
              <a:t>실행 로드맵</a:t>
            </a:r>
          </a:p>
        </p:txBody>
      </p:sp>
      <p:sp>
        <p:nvSpPr>
          <p:cNvPr id="18" name="Oval 17"/>
          <p:cNvSpPr/>
          <p:nvPr/>
        </p:nvSpPr>
        <p:spPr>
          <a:xfrm>
            <a:off x="6263640" y="1828800"/>
            <a:ext cx="786384" cy="786384"/>
          </a:xfrm>
          <a:prstGeom prst="ellipse">
            <a:avLst/>
          </a:prstGeom>
          <a:solidFill>
            <a:srgbClr val="147E7F"/>
          </a:solidFill>
          <a:ln w="12700">
            <a:solidFill>
              <a:srgbClr val="147E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16752" y="2816352"/>
            <a:ext cx="128016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147E7F"/>
                </a:solidFill>
                <a:latin typeface="Malgun Gothic"/>
              </a:rPr>
              <a:t>1단계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3154680"/>
            <a:ext cx="150876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400" b="0">
                <a:solidFill>
                  <a:srgbClr val="1F252D"/>
                </a:solidFill>
                <a:latin typeface="Malgun Gothic"/>
              </a:rPr>
              <a:t>반복 문의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114032" y="2057400"/>
            <a:ext cx="749808" cy="310896"/>
          </a:xfrm>
          <a:prstGeom prst="rightArrow">
            <a:avLst/>
          </a:prstGeom>
          <a:solidFill>
            <a:srgbClr val="D2DAE1"/>
          </a:solidFill>
          <a:ln w="12700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19" y="1828800"/>
            <a:ext cx="786384" cy="786384"/>
          </a:xfrm>
          <a:prstGeom prst="ellipse">
            <a:avLst/>
          </a:prstGeom>
          <a:solidFill>
            <a:srgbClr val="479B6B"/>
          </a:solidFill>
          <a:ln w="12700">
            <a:solidFill>
              <a:srgbClr val="479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9831" y="2816352"/>
            <a:ext cx="128016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479B6B"/>
                </a:solidFill>
                <a:latin typeface="Malgun Gothic"/>
              </a:rPr>
              <a:t>2단계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3154680"/>
            <a:ext cx="150876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400" b="0">
                <a:solidFill>
                  <a:srgbClr val="1F252D"/>
                </a:solidFill>
                <a:latin typeface="Malgun Gothic"/>
              </a:rPr>
              <a:t>부서 연결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897112" y="2057400"/>
            <a:ext cx="749808" cy="310896"/>
          </a:xfrm>
          <a:prstGeom prst="rightArrow">
            <a:avLst/>
          </a:prstGeom>
          <a:solidFill>
            <a:srgbClr val="D2DAE1"/>
          </a:solidFill>
          <a:ln w="12700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9800" y="1828800"/>
            <a:ext cx="786384" cy="786384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82912" y="2816352"/>
            <a:ext cx="128016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E67E22"/>
                </a:solidFill>
                <a:latin typeface="Malgun Gothic"/>
              </a:rPr>
              <a:t>3단계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40" y="3154680"/>
            <a:ext cx="150876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400" b="0">
                <a:solidFill>
                  <a:srgbClr val="1F252D"/>
                </a:solidFill>
                <a:latin typeface="Malgun Gothic"/>
              </a:rPr>
              <a:t>성과 점검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4572000"/>
            <a:ext cx="237744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193653"/>
                </a:solidFill>
                <a:latin typeface="Malgun Gothic"/>
              </a:rPr>
              <a:t>작게 검증한 뒤
범위를 넓힘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05-02 발표자료 결과</dc:title>
  <dc:subject>고객 문의 처리 자동화 도입 7장 발표자료 초안</dc:subject>
  <dc:creator>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